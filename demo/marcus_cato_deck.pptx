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548640"/>
            <a:ext cx="502920" cy="5029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548640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Marcus + Cato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&amp; Observability for Multi-Agent AI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3200400" y="3017520"/>
            <a:ext cx="2743200" cy="18288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Lawrence Gray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Machine Learning Educator, Blue River Technology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Adjunct Professor, Georgetown University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github.com/lwgray/marcus</a:t>
            </a:r>
            <a:pPr algn="ctr" indent="0" marL="0">
              <a:buNone/>
            </a:pPr>
            <a:r>
              <a:rPr lang="en-US" sz="1300" dirty="0">
                <a:solidFill>
                  <a:srgbClr val="7B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300" dirty="0">
                <a:solidFill>
                  <a:srgbClr val="7B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marcus-ai.dev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34747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 Chaos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187452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Context Overflow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</a:rPr>
              <a:t>Agents lose track of what was decided earlier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Opaque Decisions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</a:rPr>
              <a:t>Can't see what agents said to each other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 Recovery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</a:rPr>
              <a:t>If an agent fails, its context dies with it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51560"/>
            <a:ext cx="54864" cy="3474720"/>
          </a:xfrm>
          <a:prstGeom prst="rect">
            <a:avLst/>
          </a:prstGeom>
          <a:solidFill>
            <a:srgbClr val="0F9D9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D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Black Box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074920" y="187452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When it fails, you can't tell why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</a:rPr>
              <a:t>Was it a bad instruction?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</a:rPr>
              <a:t>Or an agent that ignored a good one?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</a:rPr>
              <a:t>Most systems today cannot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</a:rPr>
              <a:t>answer that question.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B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Insight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7315200" cy="731520"/>
          </a:xfrm>
          <a:prstGeom prst="rect">
            <a:avLst/>
          </a:prstGeom>
          <a:solidFill>
            <a:srgbClr val="1E1E42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0058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if agents never talked to each other at all?"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2651760"/>
          </a:xfrm>
          <a:prstGeom prst="rect">
            <a:avLst/>
          </a:prstGeom>
          <a:solidFill>
            <a:srgbClr val="1E1E42"/>
          </a:solidFill>
          <a:ln w="12700">
            <a:solidFill>
              <a:srgbClr val="4A2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solidFill>
            <a:srgbClr val="3A15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Agent Communication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</a:rPr>
              <a:t>Agents talk directly to each other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</a:rPr>
              <a:t>Tangled communication paths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</a:rPr>
              <a:t>No central source of truth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7B85A3"/>
                </a:solidFill>
              </a:rPr>
              <a:t>Visual chaos, arrows everywhere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3931920" cy="2651760"/>
          </a:xfrm>
          <a:prstGeom prst="rect">
            <a:avLst/>
          </a:prstGeom>
          <a:solidFill>
            <a:srgbClr val="1E1E42"/>
          </a:solidFill>
          <a:ln w="12700">
            <a:solidFill>
              <a:srgbClr val="1A4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solidFill>
            <a:srgbClr val="0D353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Board-Mediated Coordination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0632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</a:rPr>
              <a:t>Agents communicate through a shared board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9D9F"/>
                </a:solidFill>
              </a:rPr>
              <a:t>Shared Memory • Context • Artifacts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</a:rPr>
              <a:t>Clean star-pattern connections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</a:rPr>
              <a:t>Everything visible, everything debuggable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2926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B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Systems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926080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2926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1234440"/>
            <a:ext cx="731520" cy="731520"/>
          </a:xfrm>
          <a:prstGeom prst="ellipse">
            <a:avLst/>
          </a:prstGeom>
          <a:solidFill>
            <a:srgbClr val="2525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371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Marcus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Coordination Platform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971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Board-mediated coordination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dependency tracking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8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"Know your role. Serve the whole."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3931920" cy="2926080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51560"/>
            <a:ext cx="54864" cy="2926080"/>
          </a:xfrm>
          <a:prstGeom prst="rect">
            <a:avLst/>
          </a:prstGeom>
          <a:solidFill>
            <a:srgbClr val="0F9D9F"/>
          </a:solidFill>
          <a:ln/>
        </p:spPr>
      </p:sp>
      <p:sp>
        <p:nvSpPr>
          <p:cNvPr id="14" name="Shape 11"/>
          <p:cNvSpPr/>
          <p:nvPr/>
        </p:nvSpPr>
        <p:spPr>
          <a:xfrm>
            <a:off x="6035040" y="1234440"/>
            <a:ext cx="731520" cy="731520"/>
          </a:xfrm>
          <a:prstGeom prst="ellipse">
            <a:avLst/>
          </a:prstGeom>
          <a:solidFill>
            <a:srgbClr val="25255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3776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9D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Cato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493776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Visualization Layer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937760" y="2971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 of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93776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8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"Nothing should be hidden from scrutiny."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560320" y="4343400"/>
            <a:ext cx="4023360" cy="457200"/>
          </a:xfrm>
          <a:prstGeom prst="rect">
            <a:avLst/>
          </a:prstGeom>
          <a:solidFill>
            <a:srgbClr val="252550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440740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200400" y="4343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•  MIT License  •  github.com/lwgray/marcus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B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"Let's build something."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18288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3200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B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468880" cy="3291840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24688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194560" y="1234440"/>
            <a:ext cx="502920" cy="502920"/>
          </a:xfrm>
          <a:prstGeom prst="ellipse">
            <a:avLst/>
          </a:prstGeom>
          <a:solidFill>
            <a:srgbClr val="25255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13075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Isn't Optional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31520" y="2651760"/>
            <a:ext cx="2103120" cy="13716"/>
          </a:xfrm>
          <a:prstGeom prst="rect">
            <a:avLst/>
          </a:prstGeom>
          <a:solidFill>
            <a:srgbClr val="2A2A5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systems need audit trails. When something goes wrong, you need to diagnose it.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37560" y="1051560"/>
            <a:ext cx="2468880" cy="3291840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051560"/>
            <a:ext cx="2468880" cy="45720"/>
          </a:xfrm>
          <a:prstGeom prst="rect">
            <a:avLst/>
          </a:prstGeom>
          <a:solidFill>
            <a:srgbClr val="0F9D9F"/>
          </a:solidFill>
          <a:ln/>
        </p:spPr>
      </p:sp>
      <p:sp>
        <p:nvSpPr>
          <p:cNvPr id="14" name="Text 11"/>
          <p:cNvSpPr/>
          <p:nvPr/>
        </p:nvSpPr>
        <p:spPr>
          <a:xfrm>
            <a:off x="3520440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9D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4983480" y="1234440"/>
            <a:ext cx="502920" cy="502920"/>
          </a:xfrm>
          <a:prstGeom prst="ellipse">
            <a:avLst/>
          </a:prstGeom>
          <a:solidFill>
            <a:srgbClr val="25255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307592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2044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Coordination Is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Bottleneck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3520440" y="2651760"/>
            <a:ext cx="2103120" cy="13716"/>
          </a:xfrm>
          <a:prstGeom prst="rect">
            <a:avLst/>
          </a:prstGeom>
          <a:solidFill>
            <a:srgbClr val="2A2A5A"/>
          </a:solidFill>
          <a:ln/>
        </p:spPr>
      </p:sp>
      <p:sp>
        <p:nvSpPr>
          <p:cNvPr id="19" name="Text 15"/>
          <p:cNvSpPr/>
          <p:nvPr/>
        </p:nvSpPr>
        <p:spPr>
          <a:xfrm>
            <a:off x="352044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get smarter every month. But they still can't work together reliably at scale.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126480" y="1051560"/>
            <a:ext cx="2468880" cy="3291840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1051560"/>
            <a:ext cx="2468880" cy="45720"/>
          </a:xfrm>
          <a:prstGeom prst="rect">
            <a:avLst/>
          </a:prstGeom>
          <a:solidFill>
            <a:srgbClr val="E8C96A"/>
          </a:solidFill>
          <a:ln/>
        </p:spPr>
      </p:sp>
      <p:sp>
        <p:nvSpPr>
          <p:cNvPr id="22" name="Text 18"/>
          <p:cNvSpPr/>
          <p:nvPr/>
        </p:nvSpPr>
        <p:spPr>
          <a:xfrm>
            <a:off x="6309360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Shape 19"/>
          <p:cNvSpPr/>
          <p:nvPr/>
        </p:nvSpPr>
        <p:spPr>
          <a:xfrm>
            <a:off x="7772400" y="1234440"/>
            <a:ext cx="502920" cy="502920"/>
          </a:xfrm>
          <a:prstGeom prst="ellipse">
            <a:avLst/>
          </a:prstGeom>
          <a:solidFill>
            <a:srgbClr val="25255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1307592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0936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Pattern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Scales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6309360" y="2651760"/>
            <a:ext cx="2103120" cy="13716"/>
          </a:xfrm>
          <a:prstGeom prst="rect">
            <a:avLst/>
          </a:prstGeom>
          <a:solidFill>
            <a:srgbClr val="2A2A5A"/>
          </a:solidFill>
          <a:ln/>
        </p:spPr>
      </p:sp>
      <p:sp>
        <p:nvSpPr>
          <p:cNvPr id="27" name="Text 22"/>
          <p:cNvSpPr/>
          <p:nvPr/>
        </p:nvSpPr>
        <p:spPr>
          <a:xfrm>
            <a:off x="630936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code: research pipelines, content creation, autonomous systems with full accountability.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B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548640"/>
            <a:ext cx="502920" cy="5029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548640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Marcus + Cato</a:t>
            </a:r>
            <a:endParaRPr lang="en-US" sz="5000" dirty="0"/>
          </a:p>
        </p:txBody>
      </p:sp>
      <p:sp>
        <p:nvSpPr>
          <p:cNvPr id="6" name="Shape 2"/>
          <p:cNvSpPr/>
          <p:nvPr/>
        </p:nvSpPr>
        <p:spPr>
          <a:xfrm>
            <a:off x="2743200" y="2377440"/>
            <a:ext cx="3657600" cy="457200"/>
          </a:xfrm>
          <a:prstGeom prst="rect">
            <a:avLst/>
          </a:prstGeom>
          <a:solidFill>
            <a:srgbClr val="25255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•  MIT License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10896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1188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github.com/lwgray/marcus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361188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marcus-ai.dev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3200400" y="3977640"/>
            <a:ext cx="2743200" cy="18288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Lawrence Gray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lwgray@gmail.com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Marcus + Cato: Coordination &amp; Observability for Multi-Agent AI</dc:title>
  <dc:subject>PptxGenJS Presentation</dc:subject>
  <dc:creator>Lawrence Gray</dc:creator>
  <cp:lastModifiedBy>Lawrence Gray</cp:lastModifiedBy>
  <cp:revision>1</cp:revision>
  <dcterms:created xsi:type="dcterms:W3CDTF">2026-03-16T01:51:58Z</dcterms:created>
  <dcterms:modified xsi:type="dcterms:W3CDTF">2026-03-16T01:51:58Z</dcterms:modified>
</cp:coreProperties>
</file>